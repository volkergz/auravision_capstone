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Ubuntu Bold" charset="1" panose="020B0804030602030204"/>
      <p:regular r:id="rId21"/>
    </p:embeddedFont>
    <p:embeddedFont>
      <p:font typeface="Ubuntu" charset="1" panose="020B0504030602030204"/>
      <p:regular r:id="rId22"/>
    </p:embeddedFont>
    <p:embeddedFont>
      <p:font typeface="Ubuntu Bold Italics" charset="1" panose="020B08040306020A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81199" y="1028700"/>
            <a:ext cx="5725602" cy="4977856"/>
          </a:xfrm>
          <a:custGeom>
            <a:avLst/>
            <a:gdLst/>
            <a:ahLst/>
            <a:cxnLst/>
            <a:rect r="r" b="b" t="t" l="l"/>
            <a:pathLst>
              <a:path h="4977856" w="5725602">
                <a:moveTo>
                  <a:pt x="0" y="0"/>
                </a:moveTo>
                <a:lnTo>
                  <a:pt x="5725602" y="0"/>
                </a:lnTo>
                <a:lnTo>
                  <a:pt x="5725602" y="4977856"/>
                </a:lnTo>
                <a:lnTo>
                  <a:pt x="0" y="49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75413" y="6140279"/>
            <a:ext cx="3337173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Aura</a:t>
            </a:r>
            <a:r>
              <a:rPr lang="en-US" b="true" sz="5000">
                <a:solidFill>
                  <a:srgbClr val="411A6A"/>
                </a:solidFill>
                <a:latin typeface="Ubuntu Bold"/>
                <a:ea typeface="Ubuntu Bold"/>
                <a:cs typeface="Ubuntu Bold"/>
                <a:sym typeface="Ubuntu Bold"/>
              </a:rPr>
              <a:t>Visión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06429" y="7399948"/>
            <a:ext cx="947514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Defensa de Proyecto APT   -   Fase 2.1   -   Ingeniería en Informática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70350" y="8212748"/>
            <a:ext cx="934729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Aarón Vásquez | </a:t>
            </a: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Angel Perugini |</a:t>
            </a:r>
            <a:r>
              <a:rPr lang="en-US" sz="24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Haleym Hidalgo | </a:t>
            </a: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Priscilla Castro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9840" y="9082698"/>
            <a:ext cx="1278832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Docente:</a:t>
            </a:r>
            <a:r>
              <a:rPr lang="en-US" sz="24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Osnellys Andrade                                                         </a:t>
            </a: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Sección:</a:t>
            </a:r>
            <a:r>
              <a:rPr lang="en-US" sz="24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PTY4614_004D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28433" y="4489206"/>
            <a:ext cx="3831134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Iteración n°1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34163" y="5651744"/>
            <a:ext cx="381967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Periodo M</a:t>
            </a: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arzo - Julio 2026</a:t>
            </a:r>
          </a:p>
        </p:txBody>
      </p:sp>
      <p:sp>
        <p:nvSpPr>
          <p:cNvPr name="AutoShape 4" id="4"/>
          <p:cNvSpPr/>
          <p:nvPr/>
        </p:nvSpPr>
        <p:spPr>
          <a:xfrm>
            <a:off x="5897880" y="4241556"/>
            <a:ext cx="6492240" cy="0"/>
          </a:xfrm>
          <a:prstGeom prst="line">
            <a:avLst/>
          </a:prstGeom>
          <a:ln cap="flat" w="76200">
            <a:solidFill>
              <a:srgbClr val="411A6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03888" y="3771167"/>
            <a:ext cx="6080224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Hipótesis Planteada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47596" y="5648325"/>
            <a:ext cx="12792808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¿Un dispositivo que emite una alerta háptica direccional, que permitiera reconocer la presencia y ubicación aproximada de un obstáculo cerc</a:t>
            </a: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ano, podría contribuir a disminuir los riesgos durante el desplazamiento de personas con discapacidad visual?</a:t>
            </a:r>
          </a:p>
        </p:txBody>
      </p:sp>
      <p:sp>
        <p:nvSpPr>
          <p:cNvPr name="AutoShape 4" id="4"/>
          <p:cNvSpPr/>
          <p:nvPr/>
        </p:nvSpPr>
        <p:spPr>
          <a:xfrm>
            <a:off x="5897880" y="5181600"/>
            <a:ext cx="6492240" cy="0"/>
          </a:xfrm>
          <a:prstGeom prst="line">
            <a:avLst/>
          </a:prstGeom>
          <a:ln cap="flat" w="76200">
            <a:solidFill>
              <a:srgbClr val="411A6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86646" y="3190774"/>
            <a:ext cx="9767880" cy="4635059"/>
          </a:xfrm>
          <a:custGeom>
            <a:avLst/>
            <a:gdLst/>
            <a:ahLst/>
            <a:cxnLst/>
            <a:rect r="r" b="b" t="t" l="l"/>
            <a:pathLst>
              <a:path h="4635059" w="9767880">
                <a:moveTo>
                  <a:pt x="0" y="0"/>
                </a:moveTo>
                <a:lnTo>
                  <a:pt x="9767880" y="0"/>
                </a:lnTo>
                <a:lnTo>
                  <a:pt x="9767880" y="4635059"/>
                </a:lnTo>
                <a:lnTo>
                  <a:pt x="0" y="4635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9" t="-27330" r="0" b="-354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4736" y="714375"/>
            <a:ext cx="1088129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Propuesta Planteada -</a:t>
            </a:r>
            <a:r>
              <a:rPr lang="en-US" b="true" sz="3000">
                <a:solidFill>
                  <a:srgbClr val="411A6A"/>
                </a:solidFill>
                <a:latin typeface="Ubuntu Bold"/>
                <a:ea typeface="Ubuntu Bold"/>
                <a:cs typeface="Ubuntu Bold"/>
                <a:sym typeface="Ubuntu Bold"/>
              </a:rPr>
              <a:t> Primera Iteración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57813" y="3190774"/>
            <a:ext cx="5368885" cy="4635059"/>
            <a:chOff x="0" y="0"/>
            <a:chExt cx="1510408" cy="13039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10408" cy="1303963"/>
            </a:xfrm>
            <a:custGeom>
              <a:avLst/>
              <a:gdLst/>
              <a:ahLst/>
              <a:cxnLst/>
              <a:rect r="r" b="b" t="t" l="l"/>
              <a:pathLst>
                <a:path h="1303963" w="1510408">
                  <a:moveTo>
                    <a:pt x="72100" y="0"/>
                  </a:moveTo>
                  <a:lnTo>
                    <a:pt x="1438308" y="0"/>
                  </a:lnTo>
                  <a:cubicBezTo>
                    <a:pt x="1457430" y="0"/>
                    <a:pt x="1475769" y="7596"/>
                    <a:pt x="1489290" y="21118"/>
                  </a:cubicBezTo>
                  <a:cubicBezTo>
                    <a:pt x="1502812" y="34639"/>
                    <a:pt x="1510408" y="52978"/>
                    <a:pt x="1510408" y="72100"/>
                  </a:cubicBezTo>
                  <a:lnTo>
                    <a:pt x="1510408" y="1231863"/>
                  </a:lnTo>
                  <a:cubicBezTo>
                    <a:pt x="1510408" y="1271683"/>
                    <a:pt x="1478128" y="1303963"/>
                    <a:pt x="1438308" y="1303963"/>
                  </a:cubicBezTo>
                  <a:lnTo>
                    <a:pt x="72100" y="1303963"/>
                  </a:lnTo>
                  <a:cubicBezTo>
                    <a:pt x="32280" y="1303963"/>
                    <a:pt x="0" y="1271683"/>
                    <a:pt x="0" y="1231863"/>
                  </a:cubicBezTo>
                  <a:lnTo>
                    <a:pt x="0" y="72100"/>
                  </a:lnTo>
                  <a:cubicBezTo>
                    <a:pt x="0" y="32280"/>
                    <a:pt x="32280" y="0"/>
                    <a:pt x="72100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10408" cy="1351588"/>
            </a:xfrm>
            <a:prstGeom prst="rect">
              <a:avLst/>
            </a:prstGeom>
          </p:spPr>
          <p:txBody>
            <a:bodyPr anchor="t" rtlCol="false" tIns="241300" lIns="241300" bIns="241300" rIns="241300"/>
            <a:lstStyle/>
            <a:p>
              <a:pPr algn="l">
                <a:lnSpc>
                  <a:spcPts val="3399"/>
                </a:lnSpc>
              </a:pPr>
            </a:p>
            <a:p>
              <a:pPr algn="ctr">
                <a:lnSpc>
                  <a:spcPts val="33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Construcción</a:t>
              </a:r>
            </a:p>
            <a:p>
              <a:pPr algn="l">
                <a:lnSpc>
                  <a:spcPts val="3399"/>
                </a:lnSpc>
              </a:pP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Construcción y desarrollo de la estructura física</a:t>
              </a: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Desarrollo electrónico</a:t>
              </a: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Desarrollo de firmware</a:t>
              </a: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Ensamblaje del dispositivo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600731"/>
            <a:ext cx="5684744" cy="3690644"/>
            <a:chOff x="0" y="0"/>
            <a:chExt cx="1599267" cy="10382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9267" cy="1038275"/>
            </a:xfrm>
            <a:custGeom>
              <a:avLst/>
              <a:gdLst/>
              <a:ahLst/>
              <a:cxnLst/>
              <a:rect r="r" b="b" t="t" l="l"/>
              <a:pathLst>
                <a:path h="1038275" w="1599267">
                  <a:moveTo>
                    <a:pt x="68094" y="0"/>
                  </a:moveTo>
                  <a:lnTo>
                    <a:pt x="1531173" y="0"/>
                  </a:lnTo>
                  <a:cubicBezTo>
                    <a:pt x="1549233" y="0"/>
                    <a:pt x="1566553" y="7174"/>
                    <a:pt x="1579323" y="19944"/>
                  </a:cubicBezTo>
                  <a:cubicBezTo>
                    <a:pt x="1592093" y="32714"/>
                    <a:pt x="1599267" y="50034"/>
                    <a:pt x="1599267" y="68094"/>
                  </a:cubicBezTo>
                  <a:lnTo>
                    <a:pt x="1599267" y="970181"/>
                  </a:lnTo>
                  <a:cubicBezTo>
                    <a:pt x="1599267" y="988240"/>
                    <a:pt x="1592093" y="1005560"/>
                    <a:pt x="1579323" y="1018330"/>
                  </a:cubicBezTo>
                  <a:cubicBezTo>
                    <a:pt x="1566553" y="1031101"/>
                    <a:pt x="1549233" y="1038275"/>
                    <a:pt x="1531173" y="1038275"/>
                  </a:cubicBezTo>
                  <a:lnTo>
                    <a:pt x="68094" y="1038275"/>
                  </a:lnTo>
                  <a:cubicBezTo>
                    <a:pt x="50034" y="1038275"/>
                    <a:pt x="32714" y="1031101"/>
                    <a:pt x="19944" y="1018330"/>
                  </a:cubicBezTo>
                  <a:cubicBezTo>
                    <a:pt x="7174" y="1005560"/>
                    <a:pt x="0" y="988240"/>
                    <a:pt x="0" y="970181"/>
                  </a:cubicBezTo>
                  <a:lnTo>
                    <a:pt x="0" y="68094"/>
                  </a:lnTo>
                  <a:cubicBezTo>
                    <a:pt x="0" y="50034"/>
                    <a:pt x="7174" y="32714"/>
                    <a:pt x="19944" y="19944"/>
                  </a:cubicBezTo>
                  <a:cubicBezTo>
                    <a:pt x="32714" y="7174"/>
                    <a:pt x="50034" y="0"/>
                    <a:pt x="68094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99267" cy="1085900"/>
            </a:xfrm>
            <a:prstGeom prst="rect">
              <a:avLst/>
            </a:prstGeom>
          </p:spPr>
          <p:txBody>
            <a:bodyPr anchor="t" rtlCol="false" tIns="241300" lIns="241300" bIns="241300" rIns="241300"/>
            <a:lstStyle/>
            <a:p>
              <a:pPr algn="l">
                <a:lnSpc>
                  <a:spcPts val="33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Mediciones</a:t>
              </a:r>
            </a:p>
            <a:p>
              <a:pPr algn="l">
                <a:lnSpc>
                  <a:spcPts val="2720"/>
                </a:lnSpc>
              </a:pPr>
            </a:p>
            <a:p>
              <a:pPr algn="l">
                <a:lnSpc>
                  <a:spcPts val="2720"/>
                </a:lnSpc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Pruebas internas</a:t>
              </a: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Confiabilidad y precisión de los sensores.</a:t>
              </a: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Latencia del sistema.</a:t>
              </a:r>
            </a:p>
            <a:p>
              <a:pPr algn="l">
                <a:lnSpc>
                  <a:spcPts val="2720"/>
                </a:lnSpc>
              </a:pPr>
            </a:p>
            <a:p>
              <a:pPr algn="l">
                <a:lnSpc>
                  <a:spcPts val="2720"/>
                </a:lnSpc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Pruebas externas</a:t>
              </a: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Pruebas de usabilidad con usuarios.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4736" y="5634807"/>
            <a:ext cx="5684744" cy="3921347"/>
            <a:chOff x="0" y="0"/>
            <a:chExt cx="1599267" cy="11031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9267" cy="1103178"/>
            </a:xfrm>
            <a:custGeom>
              <a:avLst/>
              <a:gdLst/>
              <a:ahLst/>
              <a:cxnLst/>
              <a:rect r="r" b="b" t="t" l="l"/>
              <a:pathLst>
                <a:path h="1103178" w="1599267">
                  <a:moveTo>
                    <a:pt x="68094" y="0"/>
                  </a:moveTo>
                  <a:lnTo>
                    <a:pt x="1531173" y="0"/>
                  </a:lnTo>
                  <a:cubicBezTo>
                    <a:pt x="1549233" y="0"/>
                    <a:pt x="1566553" y="7174"/>
                    <a:pt x="1579323" y="19944"/>
                  </a:cubicBezTo>
                  <a:cubicBezTo>
                    <a:pt x="1592093" y="32714"/>
                    <a:pt x="1599267" y="50034"/>
                    <a:pt x="1599267" y="68094"/>
                  </a:cubicBezTo>
                  <a:lnTo>
                    <a:pt x="1599267" y="1035084"/>
                  </a:lnTo>
                  <a:cubicBezTo>
                    <a:pt x="1599267" y="1053143"/>
                    <a:pt x="1592093" y="1070463"/>
                    <a:pt x="1579323" y="1083233"/>
                  </a:cubicBezTo>
                  <a:cubicBezTo>
                    <a:pt x="1566553" y="1096003"/>
                    <a:pt x="1549233" y="1103178"/>
                    <a:pt x="1531173" y="1103178"/>
                  </a:cubicBezTo>
                  <a:lnTo>
                    <a:pt x="68094" y="1103178"/>
                  </a:lnTo>
                  <a:cubicBezTo>
                    <a:pt x="50034" y="1103178"/>
                    <a:pt x="32714" y="1096003"/>
                    <a:pt x="19944" y="1083233"/>
                  </a:cubicBezTo>
                  <a:cubicBezTo>
                    <a:pt x="7174" y="1070463"/>
                    <a:pt x="0" y="1053143"/>
                    <a:pt x="0" y="1035084"/>
                  </a:cubicBezTo>
                  <a:lnTo>
                    <a:pt x="0" y="68094"/>
                  </a:lnTo>
                  <a:cubicBezTo>
                    <a:pt x="0" y="50034"/>
                    <a:pt x="7174" y="32714"/>
                    <a:pt x="19944" y="19944"/>
                  </a:cubicBezTo>
                  <a:cubicBezTo>
                    <a:pt x="32714" y="7174"/>
                    <a:pt x="50034" y="0"/>
                    <a:pt x="68094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99267" cy="1150803"/>
            </a:xfrm>
            <a:prstGeom prst="rect">
              <a:avLst/>
            </a:prstGeom>
          </p:spPr>
          <p:txBody>
            <a:bodyPr anchor="t" rtlCol="false" tIns="241300" lIns="241300" bIns="241300" rIns="241300"/>
            <a:lstStyle/>
            <a:p>
              <a:pPr algn="l">
                <a:lnSpc>
                  <a:spcPts val="33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Aprendizajes</a:t>
              </a:r>
            </a:p>
            <a:p>
              <a:pPr algn="l">
                <a:lnSpc>
                  <a:spcPts val="2720"/>
                </a:lnSpc>
              </a:pP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El dispositivo era demasiado grande.</a:t>
              </a: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El soporte nasal no funcionaba correctamente.</a:t>
              </a: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El exceso de vibraciones podía desorientar al usuario.</a:t>
              </a:r>
            </a:p>
            <a:p>
              <a:pPr algn="l" marL="431801" indent="-215900" lvl="1">
                <a:lnSpc>
                  <a:spcPts val="272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El dispositivo vibraba ante todo tipo de obstáculos, incluso aquellos que no representaban un riesgo.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1715563"/>
            <a:ext cx="6836199" cy="7838488"/>
          </a:xfrm>
          <a:custGeom>
            <a:avLst/>
            <a:gdLst/>
            <a:ahLst/>
            <a:cxnLst/>
            <a:rect r="r" b="b" t="t" l="l"/>
            <a:pathLst>
              <a:path h="7838488" w="6836199">
                <a:moveTo>
                  <a:pt x="0" y="0"/>
                </a:moveTo>
                <a:lnTo>
                  <a:pt x="6836199" y="0"/>
                </a:lnTo>
                <a:lnTo>
                  <a:pt x="6836199" y="7838488"/>
                </a:lnTo>
                <a:lnTo>
                  <a:pt x="0" y="7838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2" r="0" b="-814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64736" y="714375"/>
            <a:ext cx="912571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Propuesta Planteada -</a:t>
            </a:r>
            <a:r>
              <a:rPr lang="en-US" b="true" sz="3000">
                <a:solidFill>
                  <a:srgbClr val="411A6A"/>
                </a:solidFill>
                <a:latin typeface="Ubuntu Bold"/>
                <a:ea typeface="Ubuntu Bold"/>
                <a:cs typeface="Ubuntu Bold"/>
                <a:sym typeface="Ubuntu Bold"/>
              </a:rPr>
              <a:t> Primera Iteración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28433" y="4489206"/>
            <a:ext cx="3831134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Iteración n°2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79121" y="5651744"/>
            <a:ext cx="472975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Periodo Agosto</a:t>
            </a: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 - Diciembre 2026</a:t>
            </a:r>
          </a:p>
        </p:txBody>
      </p:sp>
      <p:sp>
        <p:nvSpPr>
          <p:cNvPr name="AutoShape 4" id="4"/>
          <p:cNvSpPr/>
          <p:nvPr/>
        </p:nvSpPr>
        <p:spPr>
          <a:xfrm>
            <a:off x="5897880" y="4241556"/>
            <a:ext cx="6492240" cy="0"/>
          </a:xfrm>
          <a:prstGeom prst="line">
            <a:avLst/>
          </a:prstGeom>
          <a:ln cap="flat" w="76200">
            <a:solidFill>
              <a:srgbClr val="411A6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03888" y="3771167"/>
            <a:ext cx="6080224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Hipótesis Planteada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47596" y="5648325"/>
            <a:ext cx="12792808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¿Un dispositivo que permitiera reconocer la presencia y ubicación aproximada de obstáculos específicos</a:t>
            </a: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, emitiendo una alerta sonora con el nombre del obstáculo detectado, podría contribuir a disminuir los riesgos durante el desplazamiento de personas con discapacidad visual?</a:t>
            </a:r>
          </a:p>
        </p:txBody>
      </p:sp>
      <p:sp>
        <p:nvSpPr>
          <p:cNvPr name="AutoShape 4" id="4"/>
          <p:cNvSpPr/>
          <p:nvPr/>
        </p:nvSpPr>
        <p:spPr>
          <a:xfrm>
            <a:off x="5897880" y="5181600"/>
            <a:ext cx="6492240" cy="0"/>
          </a:xfrm>
          <a:prstGeom prst="line">
            <a:avLst/>
          </a:prstGeom>
          <a:ln cap="flat" w="76200">
            <a:solidFill>
              <a:srgbClr val="411A6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6327" y="3541835"/>
            <a:ext cx="4012740" cy="4012740"/>
            <a:chOff x="0" y="0"/>
            <a:chExt cx="1128889" cy="11288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8889" cy="1128889"/>
            </a:xfrm>
            <a:custGeom>
              <a:avLst/>
              <a:gdLst/>
              <a:ahLst/>
              <a:cxnLst/>
              <a:rect r="r" b="b" t="t" l="l"/>
              <a:pathLst>
                <a:path h="1128889" w="1128889">
                  <a:moveTo>
                    <a:pt x="98396" y="0"/>
                  </a:moveTo>
                  <a:lnTo>
                    <a:pt x="1030493" y="0"/>
                  </a:lnTo>
                  <a:cubicBezTo>
                    <a:pt x="1084835" y="0"/>
                    <a:pt x="1128889" y="44053"/>
                    <a:pt x="1128889" y="98396"/>
                  </a:cubicBezTo>
                  <a:lnTo>
                    <a:pt x="1128889" y="1030493"/>
                  </a:lnTo>
                  <a:cubicBezTo>
                    <a:pt x="1128889" y="1084835"/>
                    <a:pt x="1084835" y="1128889"/>
                    <a:pt x="1030493" y="1128889"/>
                  </a:cubicBezTo>
                  <a:lnTo>
                    <a:pt x="98396" y="1128889"/>
                  </a:lnTo>
                  <a:cubicBezTo>
                    <a:pt x="44053" y="1128889"/>
                    <a:pt x="0" y="1084835"/>
                    <a:pt x="0" y="1030493"/>
                  </a:cubicBezTo>
                  <a:lnTo>
                    <a:pt x="0" y="98396"/>
                  </a:lnTo>
                  <a:cubicBezTo>
                    <a:pt x="0" y="44053"/>
                    <a:pt x="44053" y="0"/>
                    <a:pt x="98396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28889" cy="1176514"/>
            </a:xfrm>
            <a:prstGeom prst="rect">
              <a:avLst/>
            </a:prstGeom>
          </p:spPr>
          <p:txBody>
            <a:bodyPr anchor="t" rtlCol="false" tIns="241300" lIns="241300" bIns="241300" rIns="241300"/>
            <a:lstStyle/>
            <a:p>
              <a:pPr algn="l">
                <a:lnSpc>
                  <a:spcPts val="3399"/>
                </a:lnSpc>
              </a:pPr>
            </a:p>
            <a:p>
              <a:pPr algn="l">
                <a:lnSpc>
                  <a:spcPts val="33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Detección Avanzada</a:t>
              </a:r>
            </a:p>
            <a:p>
              <a:pPr algn="l">
                <a:lnSpc>
                  <a:spcPts val="3399"/>
                </a:lnSpc>
              </a:pPr>
            </a:p>
            <a:p>
              <a:pPr algn="l">
                <a:lnSpc>
                  <a:spcPts val="2720"/>
                </a:lnSpc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Implementar modelos de visión artificial para identificar personas y objetos específicos, como motos, autos y scooters, presentes en el trayecto del usuario.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07662" y="1558437"/>
            <a:ext cx="389007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Objetivos</a:t>
            </a:r>
            <a:r>
              <a:rPr lang="en-US" b="true" sz="3000">
                <a:solidFill>
                  <a:srgbClr val="411A6A"/>
                </a:solidFill>
                <a:latin typeface="Ubuntu Bold"/>
                <a:ea typeface="Ubuntu Bold"/>
                <a:cs typeface="Ubuntu Bold"/>
                <a:sym typeface="Ubuntu Bold"/>
              </a:rPr>
              <a:t> Específicos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41452" y="3541835"/>
            <a:ext cx="4012740" cy="4012740"/>
            <a:chOff x="0" y="0"/>
            <a:chExt cx="1128889" cy="11288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889" cy="1128889"/>
            </a:xfrm>
            <a:custGeom>
              <a:avLst/>
              <a:gdLst/>
              <a:ahLst/>
              <a:cxnLst/>
              <a:rect r="r" b="b" t="t" l="l"/>
              <a:pathLst>
                <a:path h="1128889" w="1128889">
                  <a:moveTo>
                    <a:pt x="98396" y="0"/>
                  </a:moveTo>
                  <a:lnTo>
                    <a:pt x="1030493" y="0"/>
                  </a:lnTo>
                  <a:cubicBezTo>
                    <a:pt x="1084835" y="0"/>
                    <a:pt x="1128889" y="44053"/>
                    <a:pt x="1128889" y="98396"/>
                  </a:cubicBezTo>
                  <a:lnTo>
                    <a:pt x="1128889" y="1030493"/>
                  </a:lnTo>
                  <a:cubicBezTo>
                    <a:pt x="1128889" y="1084835"/>
                    <a:pt x="1084835" y="1128889"/>
                    <a:pt x="1030493" y="1128889"/>
                  </a:cubicBezTo>
                  <a:lnTo>
                    <a:pt x="98396" y="1128889"/>
                  </a:lnTo>
                  <a:cubicBezTo>
                    <a:pt x="44053" y="1128889"/>
                    <a:pt x="0" y="1084835"/>
                    <a:pt x="0" y="1030493"/>
                  </a:cubicBezTo>
                  <a:lnTo>
                    <a:pt x="0" y="98396"/>
                  </a:lnTo>
                  <a:cubicBezTo>
                    <a:pt x="0" y="44053"/>
                    <a:pt x="44053" y="0"/>
                    <a:pt x="98396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889" cy="1176514"/>
            </a:xfrm>
            <a:prstGeom prst="rect">
              <a:avLst/>
            </a:prstGeom>
          </p:spPr>
          <p:txBody>
            <a:bodyPr anchor="t" rtlCol="false" tIns="241300" lIns="241300" bIns="241300" rIns="241300"/>
            <a:lstStyle/>
            <a:p>
              <a:pPr algn="l">
                <a:lnSpc>
                  <a:spcPts val="3399"/>
                </a:lnSpc>
              </a:pPr>
            </a:p>
            <a:p>
              <a:pPr algn="l">
                <a:lnSpc>
                  <a:spcPts val="33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Infraestructura Cloud</a:t>
              </a:r>
            </a:p>
            <a:p>
              <a:pPr algn="l">
                <a:lnSpc>
                  <a:spcPts val="3399"/>
                </a:lnSpc>
              </a:pPr>
            </a:p>
            <a:p>
              <a:pPr algn="l">
                <a:lnSpc>
                  <a:spcPts val="2720"/>
                </a:lnSpc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Desplegar una arquitectura escalable en Azure, utilizando FastAPI y PostgreSQL, para gestionar usuarios, eventos e inferencias de manera eficiente.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5192" y="3541835"/>
            <a:ext cx="4012740" cy="4012740"/>
            <a:chOff x="0" y="0"/>
            <a:chExt cx="1128889" cy="11288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8889" cy="1128889"/>
            </a:xfrm>
            <a:custGeom>
              <a:avLst/>
              <a:gdLst/>
              <a:ahLst/>
              <a:cxnLst/>
              <a:rect r="r" b="b" t="t" l="l"/>
              <a:pathLst>
                <a:path h="1128889" w="1128889">
                  <a:moveTo>
                    <a:pt x="98396" y="0"/>
                  </a:moveTo>
                  <a:lnTo>
                    <a:pt x="1030493" y="0"/>
                  </a:lnTo>
                  <a:cubicBezTo>
                    <a:pt x="1084835" y="0"/>
                    <a:pt x="1128889" y="44053"/>
                    <a:pt x="1128889" y="98396"/>
                  </a:cubicBezTo>
                  <a:lnTo>
                    <a:pt x="1128889" y="1030493"/>
                  </a:lnTo>
                  <a:cubicBezTo>
                    <a:pt x="1128889" y="1084835"/>
                    <a:pt x="1084835" y="1128889"/>
                    <a:pt x="1030493" y="1128889"/>
                  </a:cubicBezTo>
                  <a:lnTo>
                    <a:pt x="98396" y="1128889"/>
                  </a:lnTo>
                  <a:cubicBezTo>
                    <a:pt x="44053" y="1128889"/>
                    <a:pt x="0" y="1084835"/>
                    <a:pt x="0" y="1030493"/>
                  </a:cubicBezTo>
                  <a:lnTo>
                    <a:pt x="0" y="98396"/>
                  </a:lnTo>
                  <a:cubicBezTo>
                    <a:pt x="0" y="44053"/>
                    <a:pt x="44053" y="0"/>
                    <a:pt x="98396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28889" cy="1176514"/>
            </a:xfrm>
            <a:prstGeom prst="rect">
              <a:avLst/>
            </a:prstGeom>
          </p:spPr>
          <p:txBody>
            <a:bodyPr anchor="t" rtlCol="false" tIns="241300" lIns="241300" bIns="241300" rIns="241300"/>
            <a:lstStyle/>
            <a:p>
              <a:pPr algn="l">
                <a:lnSpc>
                  <a:spcPts val="3399"/>
                </a:lnSpc>
              </a:pPr>
            </a:p>
            <a:p>
              <a:pPr algn="l">
                <a:lnSpc>
                  <a:spcPts val="33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Aplicación Móvil</a:t>
              </a:r>
            </a:p>
            <a:p>
              <a:pPr algn="l">
                <a:lnSpc>
                  <a:spcPts val="3399"/>
                </a:lnSpc>
              </a:pPr>
            </a:p>
            <a:p>
              <a:pPr algn="l">
                <a:lnSpc>
                  <a:spcPts val="2720"/>
                </a:lnSpc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Construir una aplicación móvil segura y </a:t>
              </a: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acc</a:t>
              </a: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esible que permita consultar el historial </a:t>
              </a: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d</a:t>
              </a: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e alertas, configurar el dispositivo y monitorear su estado.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28933" y="3541835"/>
            <a:ext cx="4012740" cy="4012740"/>
            <a:chOff x="0" y="0"/>
            <a:chExt cx="1128889" cy="11288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8889" cy="1128889"/>
            </a:xfrm>
            <a:custGeom>
              <a:avLst/>
              <a:gdLst/>
              <a:ahLst/>
              <a:cxnLst/>
              <a:rect r="r" b="b" t="t" l="l"/>
              <a:pathLst>
                <a:path h="1128889" w="1128889">
                  <a:moveTo>
                    <a:pt x="98396" y="0"/>
                  </a:moveTo>
                  <a:lnTo>
                    <a:pt x="1030493" y="0"/>
                  </a:lnTo>
                  <a:cubicBezTo>
                    <a:pt x="1084835" y="0"/>
                    <a:pt x="1128889" y="44053"/>
                    <a:pt x="1128889" y="98396"/>
                  </a:cubicBezTo>
                  <a:lnTo>
                    <a:pt x="1128889" y="1030493"/>
                  </a:lnTo>
                  <a:cubicBezTo>
                    <a:pt x="1128889" y="1084835"/>
                    <a:pt x="1084835" y="1128889"/>
                    <a:pt x="1030493" y="1128889"/>
                  </a:cubicBezTo>
                  <a:lnTo>
                    <a:pt x="98396" y="1128889"/>
                  </a:lnTo>
                  <a:cubicBezTo>
                    <a:pt x="44053" y="1128889"/>
                    <a:pt x="0" y="1084835"/>
                    <a:pt x="0" y="1030493"/>
                  </a:cubicBezTo>
                  <a:lnTo>
                    <a:pt x="0" y="98396"/>
                  </a:lnTo>
                  <a:cubicBezTo>
                    <a:pt x="0" y="44053"/>
                    <a:pt x="44053" y="0"/>
                    <a:pt x="98396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28889" cy="1176514"/>
            </a:xfrm>
            <a:prstGeom prst="rect">
              <a:avLst/>
            </a:prstGeom>
          </p:spPr>
          <p:txBody>
            <a:bodyPr anchor="t" rtlCol="false" tIns="241300" lIns="241300" bIns="241300" rIns="241300"/>
            <a:lstStyle/>
            <a:p>
              <a:pPr algn="l">
                <a:lnSpc>
                  <a:spcPts val="3399"/>
                </a:lnSpc>
              </a:pPr>
            </a:p>
            <a:p>
              <a:pPr algn="l">
                <a:lnSpc>
                  <a:spcPts val="33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Dispositivo MVP</a:t>
              </a:r>
            </a:p>
            <a:p>
              <a:pPr algn="l">
                <a:lnSpc>
                  <a:spcPts val="3399"/>
                </a:lnSpc>
              </a:pPr>
            </a:p>
            <a:p>
              <a:pPr algn="l">
                <a:lnSpc>
                  <a:spcPts val="2720"/>
                </a:lnSpc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Construir un dispositivo físico que integre las funcionalidades de captura de imágenes, conexión con la aplicación móvil y comunicación con la infraestructura cloud.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1710" y="1847850"/>
            <a:ext cx="10687590" cy="7999535"/>
            <a:chOff x="0" y="0"/>
            <a:chExt cx="2814838" cy="2106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4838" cy="2106873"/>
            </a:xfrm>
            <a:custGeom>
              <a:avLst/>
              <a:gdLst/>
              <a:ahLst/>
              <a:cxnLst/>
              <a:rect r="r" b="b" t="t" l="l"/>
              <a:pathLst>
                <a:path h="2106873" w="2814838">
                  <a:moveTo>
                    <a:pt x="36944" y="0"/>
                  </a:moveTo>
                  <a:lnTo>
                    <a:pt x="2777895" y="0"/>
                  </a:lnTo>
                  <a:cubicBezTo>
                    <a:pt x="2798298" y="0"/>
                    <a:pt x="2814838" y="16540"/>
                    <a:pt x="2814838" y="36944"/>
                  </a:cubicBezTo>
                  <a:lnTo>
                    <a:pt x="2814838" y="2069930"/>
                  </a:lnTo>
                  <a:cubicBezTo>
                    <a:pt x="2814838" y="2090333"/>
                    <a:pt x="2798298" y="2106873"/>
                    <a:pt x="2777895" y="2106873"/>
                  </a:cubicBezTo>
                  <a:lnTo>
                    <a:pt x="36944" y="2106873"/>
                  </a:lnTo>
                  <a:cubicBezTo>
                    <a:pt x="16540" y="2106873"/>
                    <a:pt x="0" y="2090333"/>
                    <a:pt x="0" y="2069930"/>
                  </a:cubicBezTo>
                  <a:lnTo>
                    <a:pt x="0" y="36944"/>
                  </a:lnTo>
                  <a:cubicBezTo>
                    <a:pt x="0" y="16540"/>
                    <a:pt x="16540" y="0"/>
                    <a:pt x="36944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14838" cy="216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847850"/>
            <a:ext cx="4792660" cy="3403449"/>
            <a:chOff x="0" y="0"/>
            <a:chExt cx="1262264" cy="8963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2264" cy="896382"/>
            </a:xfrm>
            <a:custGeom>
              <a:avLst/>
              <a:gdLst/>
              <a:ahLst/>
              <a:cxnLst/>
              <a:rect r="r" b="b" t="t" l="l"/>
              <a:pathLst>
                <a:path h="896382" w="1262264">
                  <a:moveTo>
                    <a:pt x="82384" y="0"/>
                  </a:moveTo>
                  <a:lnTo>
                    <a:pt x="1179880" y="0"/>
                  </a:lnTo>
                  <a:cubicBezTo>
                    <a:pt x="1201730" y="0"/>
                    <a:pt x="1222685" y="8680"/>
                    <a:pt x="1238135" y="24130"/>
                  </a:cubicBezTo>
                  <a:cubicBezTo>
                    <a:pt x="1253585" y="39580"/>
                    <a:pt x="1262264" y="60534"/>
                    <a:pt x="1262264" y="82384"/>
                  </a:cubicBezTo>
                  <a:lnTo>
                    <a:pt x="1262264" y="813998"/>
                  </a:lnTo>
                  <a:cubicBezTo>
                    <a:pt x="1262264" y="835847"/>
                    <a:pt x="1253585" y="856802"/>
                    <a:pt x="1238135" y="872252"/>
                  </a:cubicBezTo>
                  <a:cubicBezTo>
                    <a:pt x="1222685" y="887702"/>
                    <a:pt x="1201730" y="896382"/>
                    <a:pt x="1179880" y="896382"/>
                  </a:cubicBezTo>
                  <a:lnTo>
                    <a:pt x="82384" y="896382"/>
                  </a:lnTo>
                  <a:cubicBezTo>
                    <a:pt x="60534" y="896382"/>
                    <a:pt x="39580" y="887702"/>
                    <a:pt x="24130" y="872252"/>
                  </a:cubicBezTo>
                  <a:cubicBezTo>
                    <a:pt x="8680" y="856802"/>
                    <a:pt x="0" y="835847"/>
                    <a:pt x="0" y="813998"/>
                  </a:cubicBezTo>
                  <a:lnTo>
                    <a:pt x="0" y="82384"/>
                  </a:lnTo>
                  <a:cubicBezTo>
                    <a:pt x="0" y="60534"/>
                    <a:pt x="8680" y="39580"/>
                    <a:pt x="24130" y="24130"/>
                  </a:cubicBezTo>
                  <a:cubicBezTo>
                    <a:pt x="39580" y="8680"/>
                    <a:pt x="60534" y="0"/>
                    <a:pt x="82384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62264" cy="95353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Servicios de Azure</a:t>
              </a:r>
            </a:p>
            <a:p>
              <a:pPr algn="ctr">
                <a:lnSpc>
                  <a:spcPts val="3499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Azure Database for PostgreSQL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Azure Virtual Machine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Standard NC4as T4 v3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GPU NVIDIA Tesla T4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Redes virtuales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474650"/>
            <a:ext cx="4792660" cy="4372734"/>
            <a:chOff x="0" y="0"/>
            <a:chExt cx="1262264" cy="1151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2264" cy="1151667"/>
            </a:xfrm>
            <a:custGeom>
              <a:avLst/>
              <a:gdLst/>
              <a:ahLst/>
              <a:cxnLst/>
              <a:rect r="r" b="b" t="t" l="l"/>
              <a:pathLst>
                <a:path h="1151667" w="1262264">
                  <a:moveTo>
                    <a:pt x="82384" y="0"/>
                  </a:moveTo>
                  <a:lnTo>
                    <a:pt x="1179880" y="0"/>
                  </a:lnTo>
                  <a:cubicBezTo>
                    <a:pt x="1201730" y="0"/>
                    <a:pt x="1222685" y="8680"/>
                    <a:pt x="1238135" y="24130"/>
                  </a:cubicBezTo>
                  <a:cubicBezTo>
                    <a:pt x="1253585" y="39580"/>
                    <a:pt x="1262264" y="60534"/>
                    <a:pt x="1262264" y="82384"/>
                  </a:cubicBezTo>
                  <a:lnTo>
                    <a:pt x="1262264" y="1069283"/>
                  </a:lnTo>
                  <a:cubicBezTo>
                    <a:pt x="1262264" y="1091132"/>
                    <a:pt x="1253585" y="1112087"/>
                    <a:pt x="1238135" y="1127537"/>
                  </a:cubicBezTo>
                  <a:cubicBezTo>
                    <a:pt x="1222685" y="1142987"/>
                    <a:pt x="1201730" y="1151667"/>
                    <a:pt x="1179880" y="1151667"/>
                  </a:cubicBezTo>
                  <a:lnTo>
                    <a:pt x="82384" y="1151667"/>
                  </a:lnTo>
                  <a:cubicBezTo>
                    <a:pt x="60534" y="1151667"/>
                    <a:pt x="39580" y="1142987"/>
                    <a:pt x="24130" y="1127537"/>
                  </a:cubicBezTo>
                  <a:cubicBezTo>
                    <a:pt x="8680" y="1112087"/>
                    <a:pt x="0" y="1091132"/>
                    <a:pt x="0" y="1069283"/>
                  </a:cubicBezTo>
                  <a:lnTo>
                    <a:pt x="0" y="82384"/>
                  </a:lnTo>
                  <a:cubicBezTo>
                    <a:pt x="0" y="60534"/>
                    <a:pt x="8680" y="39580"/>
                    <a:pt x="24130" y="24130"/>
                  </a:cubicBezTo>
                  <a:cubicBezTo>
                    <a:pt x="39580" y="8680"/>
                    <a:pt x="60534" y="0"/>
                    <a:pt x="82384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62264" cy="120881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Servicios del Backend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Autenticación y gestión de u</a:t>
              </a: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suarios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Roles y permisos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Gestión de dispositivos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Configuración del dispositivo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Registro de detecciones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Gestión de sesiones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Comunicación WebSocket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Procesamiento mediante IA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571710" y="4287385"/>
            <a:ext cx="10687590" cy="3120464"/>
          </a:xfrm>
          <a:custGeom>
            <a:avLst/>
            <a:gdLst/>
            <a:ahLst/>
            <a:cxnLst/>
            <a:rect r="r" b="b" t="t" l="l"/>
            <a:pathLst>
              <a:path h="3120464" w="10687590">
                <a:moveTo>
                  <a:pt x="0" y="0"/>
                </a:moveTo>
                <a:lnTo>
                  <a:pt x="10687590" y="0"/>
                </a:lnTo>
                <a:lnTo>
                  <a:pt x="10687590" y="3120464"/>
                </a:lnTo>
                <a:lnTo>
                  <a:pt x="0" y="3120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942975"/>
            <a:ext cx="387488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Infraestructura </a:t>
            </a:r>
            <a:r>
              <a:rPr lang="en-US" b="true" sz="3000">
                <a:solidFill>
                  <a:srgbClr val="411A6A"/>
                </a:solidFill>
                <a:latin typeface="Ubuntu Bold"/>
                <a:ea typeface="Ubuntu Bold"/>
                <a:cs typeface="Ubuntu Bold"/>
                <a:sym typeface="Ubuntu Bold"/>
              </a:rPr>
              <a:t>cloud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47850"/>
            <a:ext cx="4654062" cy="3818792"/>
            <a:chOff x="0" y="0"/>
            <a:chExt cx="1225761" cy="10057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5761" cy="1005772"/>
            </a:xfrm>
            <a:custGeom>
              <a:avLst/>
              <a:gdLst/>
              <a:ahLst/>
              <a:cxnLst/>
              <a:rect r="r" b="b" t="t" l="l"/>
              <a:pathLst>
                <a:path h="1005772" w="1225761">
                  <a:moveTo>
                    <a:pt x="84837" y="0"/>
                  </a:moveTo>
                  <a:lnTo>
                    <a:pt x="1140924" y="0"/>
                  </a:lnTo>
                  <a:cubicBezTo>
                    <a:pt x="1187778" y="0"/>
                    <a:pt x="1225761" y="37983"/>
                    <a:pt x="1225761" y="84837"/>
                  </a:cubicBezTo>
                  <a:lnTo>
                    <a:pt x="1225761" y="920935"/>
                  </a:lnTo>
                  <a:cubicBezTo>
                    <a:pt x="1225761" y="967789"/>
                    <a:pt x="1187778" y="1005772"/>
                    <a:pt x="1140924" y="1005772"/>
                  </a:cubicBezTo>
                  <a:lnTo>
                    <a:pt x="84837" y="1005772"/>
                  </a:lnTo>
                  <a:cubicBezTo>
                    <a:pt x="37983" y="1005772"/>
                    <a:pt x="0" y="967789"/>
                    <a:pt x="0" y="920935"/>
                  </a:cubicBezTo>
                  <a:lnTo>
                    <a:pt x="0" y="84837"/>
                  </a:lnTo>
                  <a:cubicBezTo>
                    <a:pt x="0" y="37983"/>
                    <a:pt x="37983" y="0"/>
                    <a:pt x="84837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25761" cy="106292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Clasificación por posición</a:t>
              </a:r>
            </a:p>
            <a:p>
              <a:pPr algn="ctr">
                <a:lnSpc>
                  <a:spcPts val="3499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Frente izquierda: 0% – 40%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Frente: 40% – 60%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Frente derecha: 60% – 100%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Posición calculada según el centro horizontal del objeto</a:t>
              </a:r>
            </a:p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028592"/>
            <a:ext cx="4654062" cy="3818792"/>
            <a:chOff x="0" y="0"/>
            <a:chExt cx="1225761" cy="10057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5761" cy="1005772"/>
            </a:xfrm>
            <a:custGeom>
              <a:avLst/>
              <a:gdLst/>
              <a:ahLst/>
              <a:cxnLst/>
              <a:rect r="r" b="b" t="t" l="l"/>
              <a:pathLst>
                <a:path h="1005772" w="1225761">
                  <a:moveTo>
                    <a:pt x="84837" y="0"/>
                  </a:moveTo>
                  <a:lnTo>
                    <a:pt x="1140924" y="0"/>
                  </a:lnTo>
                  <a:cubicBezTo>
                    <a:pt x="1187778" y="0"/>
                    <a:pt x="1225761" y="37983"/>
                    <a:pt x="1225761" y="84837"/>
                  </a:cubicBezTo>
                  <a:lnTo>
                    <a:pt x="1225761" y="920935"/>
                  </a:lnTo>
                  <a:cubicBezTo>
                    <a:pt x="1225761" y="967789"/>
                    <a:pt x="1187778" y="1005772"/>
                    <a:pt x="1140924" y="1005772"/>
                  </a:cubicBezTo>
                  <a:lnTo>
                    <a:pt x="84837" y="1005772"/>
                  </a:lnTo>
                  <a:cubicBezTo>
                    <a:pt x="37983" y="1005772"/>
                    <a:pt x="0" y="967789"/>
                    <a:pt x="0" y="920935"/>
                  </a:cubicBezTo>
                  <a:lnTo>
                    <a:pt x="0" y="84837"/>
                  </a:lnTo>
                  <a:cubicBezTo>
                    <a:pt x="0" y="37983"/>
                    <a:pt x="37983" y="0"/>
                    <a:pt x="84837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25761" cy="106292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Priorización de detecciones</a:t>
              </a:r>
            </a:p>
            <a:p>
              <a:pPr algn="ctr">
                <a:lnSpc>
                  <a:spcPts val="3499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Cada objeto tiene un nivel de riesgo definidos en una matriz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Se alerta primero el obstáculo más riesgoso definido en la matriz</a:t>
              </a:r>
            </a:p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470933" y="1845750"/>
            <a:ext cx="11462678" cy="7641785"/>
          </a:xfrm>
          <a:custGeom>
            <a:avLst/>
            <a:gdLst/>
            <a:ahLst/>
            <a:cxnLst/>
            <a:rect r="r" b="b" t="t" l="l"/>
            <a:pathLst>
              <a:path h="7641785" w="11462678">
                <a:moveTo>
                  <a:pt x="0" y="0"/>
                </a:moveTo>
                <a:lnTo>
                  <a:pt x="11462677" y="0"/>
                </a:lnTo>
                <a:lnTo>
                  <a:pt x="11462677" y="7641785"/>
                </a:lnTo>
                <a:lnTo>
                  <a:pt x="0" y="7641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27" t="0" r="-839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69558" y="835176"/>
            <a:ext cx="365477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Detección </a:t>
            </a:r>
            <a:r>
              <a:rPr lang="en-US" b="true" sz="3000">
                <a:solidFill>
                  <a:srgbClr val="411A6A"/>
                </a:solidFill>
                <a:latin typeface="Ubuntu Bold"/>
                <a:ea typeface="Ubuntu Bold"/>
                <a:cs typeface="Ubuntu Bold"/>
                <a:sym typeface="Ubuntu Bold"/>
              </a:rPr>
              <a:t>Avanzada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47850"/>
            <a:ext cx="4654062" cy="2807677"/>
            <a:chOff x="0" y="0"/>
            <a:chExt cx="1225761" cy="7394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5761" cy="739470"/>
            </a:xfrm>
            <a:custGeom>
              <a:avLst/>
              <a:gdLst/>
              <a:ahLst/>
              <a:cxnLst/>
              <a:rect r="r" b="b" t="t" l="l"/>
              <a:pathLst>
                <a:path h="739470" w="1225761">
                  <a:moveTo>
                    <a:pt x="84837" y="0"/>
                  </a:moveTo>
                  <a:lnTo>
                    <a:pt x="1140924" y="0"/>
                  </a:lnTo>
                  <a:cubicBezTo>
                    <a:pt x="1187778" y="0"/>
                    <a:pt x="1225761" y="37983"/>
                    <a:pt x="1225761" y="84837"/>
                  </a:cubicBezTo>
                  <a:lnTo>
                    <a:pt x="1225761" y="654633"/>
                  </a:lnTo>
                  <a:cubicBezTo>
                    <a:pt x="1225761" y="701488"/>
                    <a:pt x="1187778" y="739470"/>
                    <a:pt x="1140924" y="739470"/>
                  </a:cubicBezTo>
                  <a:lnTo>
                    <a:pt x="84837" y="739470"/>
                  </a:lnTo>
                  <a:cubicBezTo>
                    <a:pt x="37983" y="739470"/>
                    <a:pt x="0" y="701488"/>
                    <a:pt x="0" y="654633"/>
                  </a:cubicBezTo>
                  <a:lnTo>
                    <a:pt x="0" y="84837"/>
                  </a:lnTo>
                  <a:cubicBezTo>
                    <a:pt x="0" y="37983"/>
                    <a:pt x="37983" y="0"/>
                    <a:pt x="84837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25761" cy="79662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Tecnologias</a:t>
              </a:r>
            </a:p>
            <a:p>
              <a:pPr algn="ctr">
                <a:lnSpc>
                  <a:spcPts val="3499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Expo/React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Bluetooth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5293" y="5122252"/>
            <a:ext cx="4654062" cy="4948142"/>
            <a:chOff x="0" y="0"/>
            <a:chExt cx="1225761" cy="13032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5761" cy="1303214"/>
            </a:xfrm>
            <a:custGeom>
              <a:avLst/>
              <a:gdLst/>
              <a:ahLst/>
              <a:cxnLst/>
              <a:rect r="r" b="b" t="t" l="l"/>
              <a:pathLst>
                <a:path h="1303214" w="1225761">
                  <a:moveTo>
                    <a:pt x="84837" y="0"/>
                  </a:moveTo>
                  <a:lnTo>
                    <a:pt x="1140924" y="0"/>
                  </a:lnTo>
                  <a:cubicBezTo>
                    <a:pt x="1187778" y="0"/>
                    <a:pt x="1225761" y="37983"/>
                    <a:pt x="1225761" y="84837"/>
                  </a:cubicBezTo>
                  <a:lnTo>
                    <a:pt x="1225761" y="1218377"/>
                  </a:lnTo>
                  <a:cubicBezTo>
                    <a:pt x="1225761" y="1265231"/>
                    <a:pt x="1187778" y="1303214"/>
                    <a:pt x="1140924" y="1303214"/>
                  </a:cubicBezTo>
                  <a:lnTo>
                    <a:pt x="84837" y="1303214"/>
                  </a:lnTo>
                  <a:cubicBezTo>
                    <a:pt x="37983" y="1303214"/>
                    <a:pt x="0" y="1265231"/>
                    <a:pt x="0" y="1218377"/>
                  </a:cubicBezTo>
                  <a:lnTo>
                    <a:pt x="0" y="84837"/>
                  </a:lnTo>
                  <a:cubicBezTo>
                    <a:pt x="0" y="37983"/>
                    <a:pt x="37983" y="0"/>
                    <a:pt x="84837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25761" cy="136036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Funcionalidades</a:t>
              </a:r>
            </a:p>
            <a:p>
              <a:pPr algn="ctr">
                <a:lnSpc>
                  <a:spcPts val="3499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Autenticación de u</a:t>
              </a: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suarios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Registro e inicio de sesión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Vinculación con el dispositivo AuraVisión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Configuración de conexión WiFi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Visualización del estado del dispositivo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Consulta de detecciones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Gestión de sesión del usuario</a:t>
              </a:r>
            </a:p>
            <a:p>
              <a:pPr algn="l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51160" y="1866635"/>
            <a:ext cx="3585680" cy="7980750"/>
          </a:xfrm>
          <a:custGeom>
            <a:avLst/>
            <a:gdLst/>
            <a:ahLst/>
            <a:cxnLst/>
            <a:rect r="r" b="b" t="t" l="l"/>
            <a:pathLst>
              <a:path h="7980750" w="3585680">
                <a:moveTo>
                  <a:pt x="0" y="0"/>
                </a:moveTo>
                <a:lnTo>
                  <a:pt x="3585680" y="0"/>
                </a:lnTo>
                <a:lnTo>
                  <a:pt x="3585680" y="7980750"/>
                </a:lnTo>
                <a:lnTo>
                  <a:pt x="0" y="798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03715" y="1866635"/>
            <a:ext cx="3585680" cy="7980750"/>
          </a:xfrm>
          <a:custGeom>
            <a:avLst/>
            <a:gdLst/>
            <a:ahLst/>
            <a:cxnLst/>
            <a:rect r="r" b="b" t="t" l="l"/>
            <a:pathLst>
              <a:path h="7980750" w="3585680">
                <a:moveTo>
                  <a:pt x="0" y="0"/>
                </a:moveTo>
                <a:lnTo>
                  <a:pt x="3585681" y="0"/>
                </a:lnTo>
                <a:lnTo>
                  <a:pt x="3585681" y="7980750"/>
                </a:lnTo>
                <a:lnTo>
                  <a:pt x="0" y="798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626" y="942975"/>
            <a:ext cx="298266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Aplicación </a:t>
            </a:r>
            <a:r>
              <a:rPr lang="en-US" b="true" sz="3000">
                <a:solidFill>
                  <a:srgbClr val="411A6A"/>
                </a:solidFill>
                <a:latin typeface="Ubuntu Bold"/>
                <a:ea typeface="Ubuntu Bold"/>
                <a:cs typeface="Ubuntu Bold"/>
                <a:sym typeface="Ubuntu Bold"/>
              </a:rPr>
              <a:t>Móvil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47850"/>
            <a:ext cx="4654062" cy="3833446"/>
            <a:chOff x="0" y="0"/>
            <a:chExt cx="1225761" cy="1009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5761" cy="1009632"/>
            </a:xfrm>
            <a:custGeom>
              <a:avLst/>
              <a:gdLst/>
              <a:ahLst/>
              <a:cxnLst/>
              <a:rect r="r" b="b" t="t" l="l"/>
              <a:pathLst>
                <a:path h="1009632" w="1225761">
                  <a:moveTo>
                    <a:pt x="84837" y="0"/>
                  </a:moveTo>
                  <a:lnTo>
                    <a:pt x="1140924" y="0"/>
                  </a:lnTo>
                  <a:cubicBezTo>
                    <a:pt x="1187778" y="0"/>
                    <a:pt x="1225761" y="37983"/>
                    <a:pt x="1225761" y="84837"/>
                  </a:cubicBezTo>
                  <a:lnTo>
                    <a:pt x="1225761" y="924795"/>
                  </a:lnTo>
                  <a:cubicBezTo>
                    <a:pt x="1225761" y="971649"/>
                    <a:pt x="1187778" y="1009632"/>
                    <a:pt x="1140924" y="1009632"/>
                  </a:cubicBezTo>
                  <a:lnTo>
                    <a:pt x="84837" y="1009632"/>
                  </a:lnTo>
                  <a:cubicBezTo>
                    <a:pt x="37983" y="1009632"/>
                    <a:pt x="0" y="971649"/>
                    <a:pt x="0" y="924795"/>
                  </a:cubicBezTo>
                  <a:lnTo>
                    <a:pt x="0" y="84837"/>
                  </a:lnTo>
                  <a:cubicBezTo>
                    <a:pt x="0" y="37983"/>
                    <a:pt x="37983" y="0"/>
                    <a:pt x="84837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25761" cy="106678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Modelo 3D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Fr</a:t>
              </a: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ontal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Pata Derecha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Pata Izquierda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Tapas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Soporte Nasal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111387"/>
            <a:ext cx="4654062" cy="3714750"/>
            <a:chOff x="0" y="0"/>
            <a:chExt cx="1225761" cy="9783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5761" cy="978370"/>
            </a:xfrm>
            <a:custGeom>
              <a:avLst/>
              <a:gdLst/>
              <a:ahLst/>
              <a:cxnLst/>
              <a:rect r="r" b="b" t="t" l="l"/>
              <a:pathLst>
                <a:path h="978370" w="1225761">
                  <a:moveTo>
                    <a:pt x="84837" y="0"/>
                  </a:moveTo>
                  <a:lnTo>
                    <a:pt x="1140924" y="0"/>
                  </a:lnTo>
                  <a:cubicBezTo>
                    <a:pt x="1187778" y="0"/>
                    <a:pt x="1225761" y="37983"/>
                    <a:pt x="1225761" y="84837"/>
                  </a:cubicBezTo>
                  <a:lnTo>
                    <a:pt x="1225761" y="893533"/>
                  </a:lnTo>
                  <a:cubicBezTo>
                    <a:pt x="1225761" y="940387"/>
                    <a:pt x="1187778" y="978370"/>
                    <a:pt x="1140924" y="978370"/>
                  </a:cubicBezTo>
                  <a:lnTo>
                    <a:pt x="84837" y="978370"/>
                  </a:lnTo>
                  <a:cubicBezTo>
                    <a:pt x="37983" y="978370"/>
                    <a:pt x="0" y="940387"/>
                    <a:pt x="0" y="893533"/>
                  </a:cubicBezTo>
                  <a:lnTo>
                    <a:pt x="0" y="84837"/>
                  </a:lnTo>
                  <a:cubicBezTo>
                    <a:pt x="0" y="37983"/>
                    <a:pt x="37983" y="0"/>
                    <a:pt x="84837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25761" cy="103552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Firmware</a:t>
              </a:r>
            </a:p>
            <a:p>
              <a:pPr algn="ctr">
                <a:lnSpc>
                  <a:spcPts val="3499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Conexión Bluetooth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Conexión WiFi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Captura de imágenes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Salida de Audio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Almacenamiento persistente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21585" y="1847850"/>
            <a:ext cx="10637715" cy="7978287"/>
          </a:xfrm>
          <a:custGeom>
            <a:avLst/>
            <a:gdLst/>
            <a:ahLst/>
            <a:cxnLst/>
            <a:rect r="r" b="b" t="t" l="l"/>
            <a:pathLst>
              <a:path h="7978287" w="10637715">
                <a:moveTo>
                  <a:pt x="0" y="0"/>
                </a:moveTo>
                <a:lnTo>
                  <a:pt x="10637715" y="0"/>
                </a:lnTo>
                <a:lnTo>
                  <a:pt x="10637715" y="7978287"/>
                </a:lnTo>
                <a:lnTo>
                  <a:pt x="0" y="797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5293" y="942975"/>
            <a:ext cx="299055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Dispositivo </a:t>
            </a:r>
            <a:r>
              <a:rPr lang="en-US" b="true" sz="3000">
                <a:solidFill>
                  <a:srgbClr val="411A6A"/>
                </a:solidFill>
                <a:latin typeface="Ubuntu Bold"/>
                <a:ea typeface="Ubuntu Bold"/>
                <a:cs typeface="Ubuntu Bold"/>
                <a:sym typeface="Ubuntu Bold"/>
              </a:rPr>
              <a:t>MVP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62922" y="3771167"/>
            <a:ext cx="7962156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¿Cuál es el siguiente paso?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47596" y="5648325"/>
            <a:ext cx="1279280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Siguiendo los estándares establecidos por la metodología </a:t>
            </a:r>
            <a:r>
              <a:rPr lang="en-US" b="true" sz="2499" i="true">
                <a:solidFill>
                  <a:srgbClr val="411A6A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Lean Startup</a:t>
            </a:r>
          </a:p>
        </p:txBody>
      </p:sp>
      <p:sp>
        <p:nvSpPr>
          <p:cNvPr name="AutoShape 4" id="4"/>
          <p:cNvSpPr/>
          <p:nvPr/>
        </p:nvSpPr>
        <p:spPr>
          <a:xfrm>
            <a:off x="5897880" y="5181600"/>
            <a:ext cx="6492240" cy="0"/>
          </a:xfrm>
          <a:prstGeom prst="line">
            <a:avLst/>
          </a:prstGeom>
          <a:ln cap="flat" w="76200">
            <a:solidFill>
              <a:srgbClr val="411A6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3969" y="1624446"/>
            <a:ext cx="6786265" cy="5024882"/>
            <a:chOff x="0" y="0"/>
            <a:chExt cx="1787329" cy="1323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7329" cy="1323426"/>
            </a:xfrm>
            <a:custGeom>
              <a:avLst/>
              <a:gdLst/>
              <a:ahLst/>
              <a:cxnLst/>
              <a:rect r="r" b="b" t="t" l="l"/>
              <a:pathLst>
                <a:path h="1323426" w="1787329">
                  <a:moveTo>
                    <a:pt x="58182" y="0"/>
                  </a:moveTo>
                  <a:lnTo>
                    <a:pt x="1729147" y="0"/>
                  </a:lnTo>
                  <a:cubicBezTo>
                    <a:pt x="1761280" y="0"/>
                    <a:pt x="1787329" y="26049"/>
                    <a:pt x="1787329" y="58182"/>
                  </a:cubicBezTo>
                  <a:lnTo>
                    <a:pt x="1787329" y="1265244"/>
                  </a:lnTo>
                  <a:cubicBezTo>
                    <a:pt x="1787329" y="1280675"/>
                    <a:pt x="1781199" y="1295473"/>
                    <a:pt x="1770288" y="1306385"/>
                  </a:cubicBezTo>
                  <a:cubicBezTo>
                    <a:pt x="1759377" y="1317296"/>
                    <a:pt x="1744578" y="1323426"/>
                    <a:pt x="1729147" y="1323426"/>
                  </a:cubicBezTo>
                  <a:lnTo>
                    <a:pt x="58182" y="1323426"/>
                  </a:lnTo>
                  <a:cubicBezTo>
                    <a:pt x="42751" y="1323426"/>
                    <a:pt x="27952" y="1317296"/>
                    <a:pt x="17041" y="1306385"/>
                  </a:cubicBezTo>
                  <a:cubicBezTo>
                    <a:pt x="6130" y="1295473"/>
                    <a:pt x="0" y="1280675"/>
                    <a:pt x="0" y="1265244"/>
                  </a:cubicBezTo>
                  <a:lnTo>
                    <a:pt x="0" y="58182"/>
                  </a:lnTo>
                  <a:cubicBezTo>
                    <a:pt x="0" y="42751"/>
                    <a:pt x="6130" y="27952"/>
                    <a:pt x="17041" y="17041"/>
                  </a:cubicBezTo>
                  <a:cubicBezTo>
                    <a:pt x="27952" y="6130"/>
                    <a:pt x="42751" y="0"/>
                    <a:pt x="58182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7329" cy="1380576"/>
            </a:xfrm>
            <a:prstGeom prst="rect">
              <a:avLst/>
            </a:prstGeom>
          </p:spPr>
          <p:txBody>
            <a:bodyPr anchor="t" rtlCol="false" tIns="279400" lIns="279400" bIns="279400" rIns="2794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Medición</a:t>
              </a:r>
            </a:p>
            <a:p>
              <a:pPr algn="l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Pruebas Internas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Testing del backend.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Testing del frontend.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Testing del modelo de visión artificial.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Testing del firmware.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Pruebas unitarias.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Pruebas de integración.</a:t>
              </a:r>
            </a:p>
            <a:p>
              <a:pPr algn="l">
                <a:lnSpc>
                  <a:spcPts val="1399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Pruebas Externas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Pruebas de usabilidad con usuarios.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Pruebas de funcionamiento en terreno.</a:t>
              </a:r>
            </a:p>
            <a:p>
              <a:pPr algn="l">
                <a:lnSpc>
                  <a:spcPts val="1399"/>
                </a:lnSpc>
              </a:pP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4D4D4D"/>
                  </a:solidFill>
                  <a:latin typeface="Ubuntu"/>
                  <a:ea typeface="Ubuntu"/>
                  <a:cs typeface="Ubuntu"/>
                  <a:sym typeface="Ubuntu"/>
                </a:rPr>
                <a:t>Siguiendo los estándares de la ISO25010.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63969" y="7011278"/>
            <a:ext cx="6786265" cy="2471642"/>
            <a:chOff x="0" y="0"/>
            <a:chExt cx="1787329" cy="650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7329" cy="650967"/>
            </a:xfrm>
            <a:custGeom>
              <a:avLst/>
              <a:gdLst/>
              <a:ahLst/>
              <a:cxnLst/>
              <a:rect r="r" b="b" t="t" l="l"/>
              <a:pathLst>
                <a:path h="650967" w="1787329">
                  <a:moveTo>
                    <a:pt x="58182" y="0"/>
                  </a:moveTo>
                  <a:lnTo>
                    <a:pt x="1729147" y="0"/>
                  </a:lnTo>
                  <a:cubicBezTo>
                    <a:pt x="1761280" y="0"/>
                    <a:pt x="1787329" y="26049"/>
                    <a:pt x="1787329" y="58182"/>
                  </a:cubicBezTo>
                  <a:lnTo>
                    <a:pt x="1787329" y="592786"/>
                  </a:lnTo>
                  <a:cubicBezTo>
                    <a:pt x="1787329" y="608216"/>
                    <a:pt x="1781199" y="623015"/>
                    <a:pt x="1770288" y="633926"/>
                  </a:cubicBezTo>
                  <a:cubicBezTo>
                    <a:pt x="1759377" y="644838"/>
                    <a:pt x="1744578" y="650967"/>
                    <a:pt x="1729147" y="650967"/>
                  </a:cubicBezTo>
                  <a:lnTo>
                    <a:pt x="58182" y="650967"/>
                  </a:lnTo>
                  <a:cubicBezTo>
                    <a:pt x="42751" y="650967"/>
                    <a:pt x="27952" y="644838"/>
                    <a:pt x="17041" y="633926"/>
                  </a:cubicBezTo>
                  <a:cubicBezTo>
                    <a:pt x="6130" y="623015"/>
                    <a:pt x="0" y="608216"/>
                    <a:pt x="0" y="592786"/>
                  </a:cubicBezTo>
                  <a:lnTo>
                    <a:pt x="0" y="58182"/>
                  </a:lnTo>
                  <a:cubicBezTo>
                    <a:pt x="0" y="42751"/>
                    <a:pt x="6130" y="27952"/>
                    <a:pt x="17041" y="17041"/>
                  </a:cubicBezTo>
                  <a:cubicBezTo>
                    <a:pt x="27952" y="6130"/>
                    <a:pt x="42751" y="0"/>
                    <a:pt x="58182" y="0"/>
                  </a:cubicBezTo>
                  <a:close/>
                </a:path>
              </a:pathLst>
            </a:custGeom>
            <a:solidFill>
              <a:srgbClr val="FCFEFF"/>
            </a:solidFill>
            <a:ln w="19050" cap="rnd">
              <a:solidFill>
                <a:srgbClr val="D8D2D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87329" cy="708118"/>
            </a:xfrm>
            <a:prstGeom prst="rect">
              <a:avLst/>
            </a:prstGeom>
          </p:spPr>
          <p:txBody>
            <a:bodyPr anchor="t" rtlCol="false" tIns="279400" lIns="279400" bIns="279400" rIns="2794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11A6A"/>
                  </a:solidFill>
                  <a:latin typeface="Ubuntu"/>
                  <a:ea typeface="Ubuntu"/>
                  <a:cs typeface="Ubuntu"/>
                  <a:sym typeface="Ubuntu"/>
                </a:rPr>
                <a:t>Aprendizaje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Ubuntu"/>
                  <a:ea typeface="Ubuntu"/>
                  <a:cs typeface="Ubuntu"/>
                  <a:sym typeface="Ubuntu"/>
                </a:rPr>
                <a:t>Utilizar la información obtenida durante la fase de Medición para determinar si la hipótesis se cumple y, en función de los resultados, decidir si corresponde:</a:t>
              </a:r>
            </a:p>
            <a:p>
              <a:pPr algn="l">
                <a:lnSpc>
                  <a:spcPts val="1399"/>
                </a:lnSpc>
              </a:pP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411A6A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Descartar | </a:t>
              </a:r>
              <a:r>
                <a:rPr lang="en-US" b="true" sz="2000">
                  <a:solidFill>
                    <a:srgbClr val="411A6A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Pivotar | Preservar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60031" y="1849066"/>
            <a:ext cx="6844778" cy="7409234"/>
          </a:xfrm>
          <a:custGeom>
            <a:avLst/>
            <a:gdLst/>
            <a:ahLst/>
            <a:cxnLst/>
            <a:rect r="r" b="b" t="t" l="l"/>
            <a:pathLst>
              <a:path h="7409234" w="6844778">
                <a:moveTo>
                  <a:pt x="0" y="0"/>
                </a:moveTo>
                <a:lnTo>
                  <a:pt x="6844778" y="0"/>
                </a:lnTo>
                <a:lnTo>
                  <a:pt x="6844778" y="7409234"/>
                </a:lnTo>
                <a:lnTo>
                  <a:pt x="0" y="7409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912" t="0" r="-2718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40815" y="714375"/>
            <a:ext cx="8206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Metodología - </a:t>
            </a:r>
            <a:r>
              <a:rPr lang="en-US" b="true" sz="3000">
                <a:solidFill>
                  <a:srgbClr val="411A6A"/>
                </a:solidFill>
                <a:latin typeface="Ubuntu Bold"/>
                <a:ea typeface="Ubuntu Bold"/>
                <a:cs typeface="Ubuntu Bold"/>
                <a:sym typeface="Ubuntu Bold"/>
              </a:rPr>
              <a:t>Lean Startup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11117" y="3771167"/>
            <a:ext cx="9465766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Muchas Gracias por su atención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47596" y="5619750"/>
            <a:ext cx="12792808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411A6A"/>
                </a:solidFill>
                <a:latin typeface="Ubuntu"/>
                <a:ea typeface="Ubuntu"/>
                <a:cs typeface="Ubuntu"/>
                <a:sym typeface="Ubuntu"/>
              </a:rPr>
              <a:t>¿Preguntas o comentarios?</a:t>
            </a:r>
          </a:p>
        </p:txBody>
      </p:sp>
      <p:sp>
        <p:nvSpPr>
          <p:cNvPr name="AutoShape 4" id="4"/>
          <p:cNvSpPr/>
          <p:nvPr/>
        </p:nvSpPr>
        <p:spPr>
          <a:xfrm>
            <a:off x="5897880" y="5181600"/>
            <a:ext cx="6492240" cy="0"/>
          </a:xfrm>
          <a:prstGeom prst="line">
            <a:avLst/>
          </a:prstGeom>
          <a:ln cap="flat" w="76200">
            <a:solidFill>
              <a:srgbClr val="411A6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DAHW5HKnz00</dc:identifier>
  <dcterms:modified xsi:type="dcterms:W3CDTF">2011-08-01T06:04:30Z</dcterms:modified>
  <cp:revision>1</cp:revision>
  <dc:title>Defensa de Proyecto APT - Fase 2.1</dc:title>
</cp:coreProperties>
</file>