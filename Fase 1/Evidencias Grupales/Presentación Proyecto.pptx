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europolitical" charset="1" panose="020B06050202010801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11082" y="771921"/>
            <a:ext cx="8465836" cy="5639167"/>
          </a:xfrm>
          <a:custGeom>
            <a:avLst/>
            <a:gdLst/>
            <a:ahLst/>
            <a:cxnLst/>
            <a:rect r="r" b="b" t="t" l="l"/>
            <a:pathLst>
              <a:path h="5639167" w="8465836">
                <a:moveTo>
                  <a:pt x="0" y="0"/>
                </a:moveTo>
                <a:lnTo>
                  <a:pt x="8465836" y="0"/>
                </a:lnTo>
                <a:lnTo>
                  <a:pt x="8465836" y="5639167"/>
                </a:lnTo>
                <a:lnTo>
                  <a:pt x="0" y="5639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583" r="0" b="-3354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476453" y="6220588"/>
            <a:ext cx="19240905" cy="164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48"/>
              </a:lnSpc>
              <a:spcBef>
                <a:spcPct val="0"/>
              </a:spcBef>
            </a:pPr>
            <a:r>
              <a:rPr lang="en-US" sz="9534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Aura</a:t>
            </a:r>
            <a:r>
              <a:rPr lang="en-US" sz="9534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Visión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855964"/>
            <a:ext cx="16230600" cy="40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1"/>
              </a:lnSpc>
            </a:pPr>
            <a:r>
              <a:rPr lang="en-US" sz="2799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Aarón Vásquez   |  </a:t>
            </a:r>
            <a:r>
              <a:rPr lang="en-US" sz="2799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Priscilla Castro   |  </a:t>
            </a:r>
            <a:r>
              <a:rPr lang="en-US" sz="2799">
                <a:solidFill>
                  <a:srgbClr val="121212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Haleym Hidalgo   |  </a:t>
            </a:r>
            <a:r>
              <a:rPr lang="en-US" sz="2799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Angel Perugini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71700" y="4006215"/>
            <a:ext cx="13944600" cy="219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¿Sabías que </a:t>
            </a:r>
            <a:r>
              <a:rPr lang="en-US" sz="42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5 millones</a:t>
            </a:r>
            <a:r>
              <a:rPr lang="en-US" sz="42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de personas en Chile presentan algún grado de </a:t>
            </a:r>
            <a:r>
              <a:rPr lang="en-US" sz="42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pérdida de visión?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60923" cy="10287000"/>
          </a:xfrm>
          <a:custGeom>
            <a:avLst/>
            <a:gdLst/>
            <a:ahLst/>
            <a:cxnLst/>
            <a:rect r="r" b="b" t="t" l="l"/>
            <a:pathLst>
              <a:path h="10287000" w="8160923">
                <a:moveTo>
                  <a:pt x="0" y="0"/>
                </a:moveTo>
                <a:lnTo>
                  <a:pt x="8160923" y="0"/>
                </a:lnTo>
                <a:lnTo>
                  <a:pt x="81609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4006215"/>
            <a:ext cx="8313345" cy="219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¿Y </a:t>
            </a:r>
            <a:r>
              <a:rPr lang="en-US" sz="4199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más de </a:t>
            </a:r>
            <a:r>
              <a:rPr lang="en-US" sz="4199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150 mil</a:t>
            </a:r>
            <a:r>
              <a:rPr lang="en-US" sz="4199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presentan </a:t>
            </a:r>
            <a:r>
              <a:rPr lang="en-US" sz="4199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ceguera total?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92700" y="4006215"/>
            <a:ext cx="11302600" cy="219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Imaginen </a:t>
            </a:r>
            <a:r>
              <a:rPr lang="en-US" sz="42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navegar </a:t>
            </a:r>
            <a:r>
              <a:rPr lang="en-US" sz="42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por la </a:t>
            </a:r>
            <a:r>
              <a:rPr lang="en-US" sz="42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ciudad </a:t>
            </a:r>
            <a:r>
              <a:rPr lang="en-US" sz="42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diariamente, cuando el </a:t>
            </a:r>
            <a:r>
              <a:rPr lang="en-US" sz="42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suelo </a:t>
            </a:r>
            <a:r>
              <a:rPr lang="en-US" sz="42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es tu única</a:t>
            </a:r>
            <a:r>
              <a:rPr lang="en-US" sz="4200" strike="noStrike" u="none">
                <a:solidFill>
                  <a:srgbClr val="6924C1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42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guía.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65328" y="-198528"/>
            <a:ext cx="8564021" cy="10684055"/>
          </a:xfrm>
          <a:custGeom>
            <a:avLst/>
            <a:gdLst/>
            <a:ahLst/>
            <a:cxnLst/>
            <a:rect r="r" b="b" t="t" l="l"/>
            <a:pathLst>
              <a:path h="10684055" w="8564021">
                <a:moveTo>
                  <a:pt x="0" y="0"/>
                </a:moveTo>
                <a:lnTo>
                  <a:pt x="8564021" y="0"/>
                </a:lnTo>
                <a:lnTo>
                  <a:pt x="8564021" y="10684056"/>
                </a:lnTo>
                <a:lnTo>
                  <a:pt x="0" y="10684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6962" y="3346450"/>
            <a:ext cx="8848019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En donde existen 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peligros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que están a la 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altura 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de tu 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car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y 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torso, </a:t>
            </a:r>
            <a:r>
              <a:rPr lang="en-US" sz="4000" strike="noStrike" u="none">
                <a:solidFill>
                  <a:srgbClr val="040005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que</a:t>
            </a:r>
            <a:r>
              <a:rPr lang="en-US" sz="4000" strike="noStrike" u="none">
                <a:solidFill>
                  <a:srgbClr val="6924C1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4000" strike="noStrike" u="none">
                <a:solidFill>
                  <a:srgbClr val="121212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no</a:t>
            </a:r>
            <a:r>
              <a:rPr lang="en-US" sz="4000" strike="noStrike" u="none">
                <a:solidFill>
                  <a:srgbClr val="121212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logran 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ser 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detectados 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con el 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bastón tradicional.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97882" y="3634740"/>
            <a:ext cx="13892237" cy="294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Como solución a esta </a:t>
            </a:r>
            <a:r>
              <a:rPr lang="en-US" sz="42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problemática,</a:t>
            </a:r>
            <a:r>
              <a:rPr lang="en-US" sz="42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estamos desarrollando un </a:t>
            </a:r>
            <a:r>
              <a:rPr lang="en-US" sz="42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dispositivo </a:t>
            </a:r>
            <a:r>
              <a:rPr lang="en-US" sz="42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en forma de </a:t>
            </a:r>
            <a:r>
              <a:rPr lang="en-US" sz="42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lentes </a:t>
            </a:r>
            <a:r>
              <a:rPr lang="en-US" sz="42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que detectan </a:t>
            </a:r>
            <a:r>
              <a:rPr lang="en-US" sz="42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obstáculos cercanos.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40426" y="1028700"/>
            <a:ext cx="11580344" cy="5436679"/>
          </a:xfrm>
          <a:custGeom>
            <a:avLst/>
            <a:gdLst/>
            <a:ahLst/>
            <a:cxnLst/>
            <a:rect r="r" b="b" t="t" l="l"/>
            <a:pathLst>
              <a:path h="5436679" w="11580344">
                <a:moveTo>
                  <a:pt x="0" y="0"/>
                </a:moveTo>
                <a:lnTo>
                  <a:pt x="11580345" y="0"/>
                </a:lnTo>
                <a:lnTo>
                  <a:pt x="11580345" y="5436679"/>
                </a:lnTo>
                <a:lnTo>
                  <a:pt x="0" y="5436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0" t="-15991" r="-11636" b="-215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43256" y="7306945"/>
            <a:ext cx="15174686" cy="197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través de 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sen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so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res,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l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os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cu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l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es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pro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cesan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l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 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información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y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em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it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n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un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señal háptica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m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dia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n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te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vib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ra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ción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d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ir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ccional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r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ec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o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n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o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ci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bl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 p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o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r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e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l 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usuario.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22893" y="3770420"/>
            <a:ext cx="988219" cy="889397"/>
          </a:xfrm>
          <a:custGeom>
            <a:avLst/>
            <a:gdLst/>
            <a:ahLst/>
            <a:cxnLst/>
            <a:rect r="r" b="b" t="t" l="l"/>
            <a:pathLst>
              <a:path h="889397" w="988219">
                <a:moveTo>
                  <a:pt x="0" y="0"/>
                </a:moveTo>
                <a:lnTo>
                  <a:pt x="988219" y="0"/>
                </a:lnTo>
                <a:lnTo>
                  <a:pt x="988219" y="889397"/>
                </a:lnTo>
                <a:lnTo>
                  <a:pt x="0" y="889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8248" y="5469442"/>
            <a:ext cx="1082863" cy="1082863"/>
          </a:xfrm>
          <a:custGeom>
            <a:avLst/>
            <a:gdLst/>
            <a:ahLst/>
            <a:cxnLst/>
            <a:rect r="r" b="b" t="t" l="l"/>
            <a:pathLst>
              <a:path h="1082863" w="1082863">
                <a:moveTo>
                  <a:pt x="0" y="0"/>
                </a:moveTo>
                <a:lnTo>
                  <a:pt x="1082864" y="0"/>
                </a:lnTo>
                <a:lnTo>
                  <a:pt x="1082864" y="1082863"/>
                </a:lnTo>
                <a:lnTo>
                  <a:pt x="0" y="1082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97344" y="7205530"/>
            <a:ext cx="989967" cy="1365472"/>
          </a:xfrm>
          <a:custGeom>
            <a:avLst/>
            <a:gdLst/>
            <a:ahLst/>
            <a:cxnLst/>
            <a:rect r="r" b="b" t="t" l="l"/>
            <a:pathLst>
              <a:path h="1365472" w="989967">
                <a:moveTo>
                  <a:pt x="0" y="0"/>
                </a:moveTo>
                <a:lnTo>
                  <a:pt x="989968" y="0"/>
                </a:lnTo>
                <a:lnTo>
                  <a:pt x="989968" y="1365472"/>
                </a:lnTo>
                <a:lnTo>
                  <a:pt x="0" y="13654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22893" y="1833955"/>
            <a:ext cx="965773" cy="1129559"/>
          </a:xfrm>
          <a:custGeom>
            <a:avLst/>
            <a:gdLst/>
            <a:ahLst/>
            <a:cxnLst/>
            <a:rect r="r" b="b" t="t" l="l"/>
            <a:pathLst>
              <a:path h="1129559" w="965773">
                <a:moveTo>
                  <a:pt x="0" y="0"/>
                </a:moveTo>
                <a:lnTo>
                  <a:pt x="965772" y="0"/>
                </a:lnTo>
                <a:lnTo>
                  <a:pt x="965772" y="1129559"/>
                </a:lnTo>
                <a:lnTo>
                  <a:pt x="0" y="11295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94926" y="1898037"/>
            <a:ext cx="8131431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79"/>
              </a:lnSpc>
              <a:spcBef>
                <a:spcPct val="0"/>
              </a:spcBef>
            </a:pPr>
            <a:r>
              <a:rPr lang="en-US" sz="5199" strike="noStrike" u="none">
                <a:solidFill>
                  <a:srgbClr val="040005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Mayor </a:t>
            </a:r>
            <a:r>
              <a:rPr lang="en-US" sz="5199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seguridad.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94926" y="3727429"/>
            <a:ext cx="12221944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Prevención </a:t>
            </a:r>
            <a:r>
              <a:rPr lang="en-US" sz="5200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de accidentes.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94926" y="5557499"/>
            <a:ext cx="10790265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Detección en</a:t>
            </a:r>
            <a:r>
              <a:rPr lang="en-US" sz="5200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tiempo real.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94926" y="7387568"/>
            <a:ext cx="13926324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80"/>
              </a:lnSpc>
              <a:spcBef>
                <a:spcPct val="0"/>
              </a:spcBef>
            </a:pPr>
            <a:r>
              <a:rPr lang="en-US" sz="5200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Complemento del</a:t>
            </a:r>
            <a:r>
              <a:rPr lang="en-US" sz="5200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bastón blanco.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46612" y="5786095"/>
            <a:ext cx="3019332" cy="2721821"/>
          </a:xfrm>
          <a:custGeom>
            <a:avLst/>
            <a:gdLst/>
            <a:ahLst/>
            <a:cxnLst/>
            <a:rect r="r" b="b" t="t" l="l"/>
            <a:pathLst>
              <a:path h="2721821" w="3019332">
                <a:moveTo>
                  <a:pt x="0" y="0"/>
                </a:moveTo>
                <a:lnTo>
                  <a:pt x="3019332" y="0"/>
                </a:lnTo>
                <a:lnTo>
                  <a:pt x="3019332" y="2721821"/>
                </a:lnTo>
                <a:lnTo>
                  <a:pt x="0" y="2721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79" t="-9004" r="-2589" b="-1054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33985" y="5538087"/>
            <a:ext cx="3207403" cy="3217837"/>
          </a:xfrm>
          <a:custGeom>
            <a:avLst/>
            <a:gdLst/>
            <a:ahLst/>
            <a:cxnLst/>
            <a:rect r="r" b="b" t="t" l="l"/>
            <a:pathLst>
              <a:path h="3217837" w="3207403">
                <a:moveTo>
                  <a:pt x="0" y="0"/>
                </a:moveTo>
                <a:lnTo>
                  <a:pt x="3207403" y="0"/>
                </a:lnTo>
                <a:lnTo>
                  <a:pt x="3207403" y="3217837"/>
                </a:lnTo>
                <a:lnTo>
                  <a:pt x="0" y="32178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25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17864" y="6442311"/>
            <a:ext cx="6061890" cy="1409389"/>
          </a:xfrm>
          <a:custGeom>
            <a:avLst/>
            <a:gdLst/>
            <a:ahLst/>
            <a:cxnLst/>
            <a:rect r="r" b="b" t="t" l="l"/>
            <a:pathLst>
              <a:path h="1409389" w="6061890">
                <a:moveTo>
                  <a:pt x="0" y="0"/>
                </a:moveTo>
                <a:lnTo>
                  <a:pt x="6061890" y="0"/>
                </a:lnTo>
                <a:lnTo>
                  <a:pt x="6061890" y="1409389"/>
                </a:lnTo>
                <a:lnTo>
                  <a:pt x="0" y="1409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3040" y="2351522"/>
            <a:ext cx="14921919" cy="219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sz="42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Nuestro proyecto se </a:t>
            </a:r>
            <a:r>
              <a:rPr lang="en-US" sz="42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fundamenta </a:t>
            </a:r>
            <a:r>
              <a:rPr lang="en-US" sz="42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con </a:t>
            </a:r>
            <a:r>
              <a:rPr lang="en-US" sz="42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información </a:t>
            </a:r>
            <a:r>
              <a:rPr lang="en-US" sz="42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de </a:t>
            </a:r>
            <a:r>
              <a:rPr lang="en-US" sz="42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calidad</a:t>
            </a:r>
            <a:r>
              <a:rPr lang="en-US" sz="42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, obtenida a través de organizaciones como: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86393" y="1028700"/>
            <a:ext cx="7207195" cy="5405396"/>
          </a:xfrm>
          <a:custGeom>
            <a:avLst/>
            <a:gdLst/>
            <a:ahLst/>
            <a:cxnLst/>
            <a:rect r="r" b="b" t="t" l="l"/>
            <a:pathLst>
              <a:path h="5405396" w="7207195">
                <a:moveTo>
                  <a:pt x="0" y="0"/>
                </a:moveTo>
                <a:lnTo>
                  <a:pt x="7207194" y="0"/>
                </a:lnTo>
                <a:lnTo>
                  <a:pt x="7207194" y="5405396"/>
                </a:lnTo>
                <a:lnTo>
                  <a:pt x="0" y="5405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94413" y="1028700"/>
            <a:ext cx="5405396" cy="5405396"/>
          </a:xfrm>
          <a:custGeom>
            <a:avLst/>
            <a:gdLst/>
            <a:ahLst/>
            <a:cxnLst/>
            <a:rect r="r" b="b" t="t" l="l"/>
            <a:pathLst>
              <a:path h="5405396" w="5405396">
                <a:moveTo>
                  <a:pt x="0" y="0"/>
                </a:moveTo>
                <a:lnTo>
                  <a:pt x="5405396" y="0"/>
                </a:lnTo>
                <a:lnTo>
                  <a:pt x="5405396" y="5405396"/>
                </a:lnTo>
                <a:lnTo>
                  <a:pt x="0" y="5405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282" t="-71458" r="-30509" b="-2959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61752" y="7278370"/>
            <a:ext cx="15764495" cy="1979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20"/>
              </a:lnSpc>
              <a:spcBef>
                <a:spcPct val="0"/>
              </a:spcBef>
            </a:pP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Nuestro 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proto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tipo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ha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s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ido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proba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d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o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con 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usuarios r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ales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,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cuy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o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fe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ed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b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ck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nos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h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p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rmitido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r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r u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na</a:t>
            </a:r>
            <a:r>
              <a:rPr lang="en-US" sz="38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solu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ci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ón </a:t>
            </a:r>
            <a:r>
              <a:rPr lang="en-US" sz="3800" strike="noStrike" u="none">
                <a:solidFill>
                  <a:srgbClr val="040005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más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huma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n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a, acc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es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ible,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y efi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</a:t>
            </a:r>
            <a:r>
              <a:rPr lang="en-US" sz="38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iente.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126300" cy="10605636"/>
          </a:xfrm>
          <a:custGeom>
            <a:avLst/>
            <a:gdLst/>
            <a:ahLst/>
            <a:cxnLst/>
            <a:rect r="r" b="b" t="t" l="l"/>
            <a:pathLst>
              <a:path h="10605636" w="8126300">
                <a:moveTo>
                  <a:pt x="0" y="0"/>
                </a:moveTo>
                <a:lnTo>
                  <a:pt x="8126300" y="0"/>
                </a:lnTo>
                <a:lnTo>
                  <a:pt x="8126300" y="10605636"/>
                </a:lnTo>
                <a:lnTo>
                  <a:pt x="0" y="1060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31578" y="2096068"/>
            <a:ext cx="7375322" cy="632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S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 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s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p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er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 qu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la sigu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ient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 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vers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ió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n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i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n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tegre un 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s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ist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m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 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de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inteligencia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a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r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t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ifici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al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apaz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d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 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r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conocer, identificar y clasifi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car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lo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s 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o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bstá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u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l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os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pr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esentes en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e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l 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entorno.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96490" y="7864475"/>
            <a:ext cx="15895021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0"/>
              </a:lnSpc>
              <a:spcBef>
                <a:spcPct val="0"/>
              </a:spcBef>
            </a:pP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Juntos 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cambiemos 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los 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obstáculos,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por 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caminos</a:t>
            </a:r>
            <a:r>
              <a:rPr lang="en-US" sz="4000" strike="noStrike" u="none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 más </a:t>
            </a:r>
            <a:r>
              <a:rPr lang="en-US" sz="4000" strike="noStrike" u="none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seguros.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911082" y="590946"/>
            <a:ext cx="8465836" cy="5639167"/>
          </a:xfrm>
          <a:custGeom>
            <a:avLst/>
            <a:gdLst/>
            <a:ahLst/>
            <a:cxnLst/>
            <a:rect r="r" b="b" t="t" l="l"/>
            <a:pathLst>
              <a:path h="5639167" w="8465836">
                <a:moveTo>
                  <a:pt x="0" y="0"/>
                </a:moveTo>
                <a:lnTo>
                  <a:pt x="8465836" y="0"/>
                </a:lnTo>
                <a:lnTo>
                  <a:pt x="8465836" y="5639167"/>
                </a:lnTo>
                <a:lnTo>
                  <a:pt x="0" y="5639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583" r="0" b="-3354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476453" y="6039613"/>
            <a:ext cx="19240905" cy="164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48"/>
              </a:lnSpc>
              <a:spcBef>
                <a:spcPct val="0"/>
              </a:spcBef>
            </a:pPr>
            <a:r>
              <a:rPr lang="en-US" sz="9534">
                <a:solidFill>
                  <a:srgbClr val="00000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Aura</a:t>
            </a:r>
            <a:r>
              <a:rPr lang="en-US" sz="9534">
                <a:solidFill>
                  <a:srgbClr val="8714B0"/>
                </a:solidFill>
                <a:latin typeface="Neuropolitical"/>
                <a:ea typeface="Neuropolitical"/>
                <a:cs typeface="Neuropolitical"/>
                <a:sym typeface="Neuropolitical"/>
              </a:rPr>
              <a:t>Visión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DAHT62BwuxM</dc:identifier>
  <dcterms:modified xsi:type="dcterms:W3CDTF">2011-08-01T06:04:30Z</dcterms:modified>
  <cp:revision>1</cp:revision>
  <dc:title>Capstone fase 1</dc:title>
</cp:coreProperties>
</file>